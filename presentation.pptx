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5" r:id="rId8"/>
    <p:sldId id="277" r:id="rId9"/>
    <p:sldId id="266" r:id="rId10"/>
    <p:sldId id="267" r:id="rId11"/>
    <p:sldId id="268" r:id="rId12"/>
    <p:sldId id="269" r:id="rId13"/>
    <p:sldId id="278" r:id="rId14"/>
    <p:sldId id="273" r:id="rId15"/>
    <p:sldId id="279" r:id="rId16"/>
    <p:sldId id="275" r:id="rId17"/>
    <p:sldId id="27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9666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3806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9476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585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2313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90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2946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855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6055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3905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99208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2956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2178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989581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88770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27577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0328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C1D07E2-03B8-4D57-B77D-FCE75706A52C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7AD92CD-026C-4BB0-A6AE-8C2A2A3995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9163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7C33A7-BC26-44DE-A74E-C27DBDA063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12" y="255493"/>
            <a:ext cx="9705882" cy="1947334"/>
          </a:xfrm>
        </p:spPr>
        <p:txBody>
          <a:bodyPr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40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Кейс 10: Бинарная классификация перекрёстных продаж страхования</a:t>
            </a:r>
            <a:endParaRPr lang="ru-RU" sz="40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F21F797-2712-4B5B-8C78-BC9729D6FB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12" y="2840815"/>
            <a:ext cx="10718894" cy="1947333"/>
          </a:xfrm>
        </p:spPr>
        <p:txBody>
          <a:bodyPr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Команда “Страховщики”:</a:t>
            </a:r>
            <a:endParaRPr lang="ru-RU" sz="1800" b="0" dirty="0">
              <a:effectLst/>
            </a:endParaRP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Иванков Дмитрий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Луиза </a:t>
            </a: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Тайсумова</a:t>
            </a:r>
            <a:endParaRPr lang="ru-RU" sz="1800" b="0" i="0" u="none" strike="noStrike" dirty="0"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Андрей </a:t>
            </a: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Плахотин</a:t>
            </a:r>
            <a:endParaRPr lang="ru-RU" sz="1800" b="0" i="0" u="none" strike="noStrike" dirty="0"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Дмитрий Мартынов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Роман Осипов</a:t>
            </a: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br>
              <a:rPr lang="ru-RU" sz="1800" b="0" dirty="0">
                <a:effectLst/>
              </a:rPr>
            </a:b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Git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Hub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https://github.com/taysumova/urfu_ml/tree/main</a:t>
            </a:r>
            <a:endParaRPr lang="ru-RU" sz="1800" b="0" i="0" u="none" strike="noStrike" dirty="0"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br>
              <a:rPr lang="ru-RU" sz="1800" b="0" dirty="0">
                <a:effectLst/>
              </a:rPr>
            </a:b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Google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Colab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: https://colab.research.google.com/github/taysumova/urfu_ml/blob/main/Кейс_10_Бинарная_классификация_перекрёстных_продаж_страхования.ipynb</a:t>
            </a:r>
            <a:endParaRPr lang="ru-RU" sz="1800" b="0" dirty="0">
              <a:effectLst/>
            </a:endParaRPr>
          </a:p>
          <a:p>
            <a:br>
              <a:rPr lang="ru-RU" sz="1800" b="0" dirty="0">
                <a:effectLst/>
              </a:rPr>
            </a:b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980156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3941578" cy="74265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Цели и задачи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517DD-7379-4EB5-98F4-2F52546E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213" y="1503829"/>
            <a:ext cx="8534400" cy="2433918"/>
          </a:xfrm>
        </p:spPr>
        <p:txBody>
          <a:bodyPr>
            <a:normAutofit lnSpcReduction="10000"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Цель – на основе представленных данных научиться распознавать  откликнется ли клиент страховой компании на предложение дополнительной автостраховки на основе его демографических и поведенческих характеристик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Задача - обучить модель бинарной классификации для прогнозирования отклика клиент страховой компании на предложение дополнительной автостраховки</a:t>
            </a:r>
          </a:p>
        </p:txBody>
      </p:sp>
    </p:spTree>
    <p:extLst>
      <p:ext uri="{BB962C8B-B14F-4D97-AF65-F5344CB8AC3E}">
        <p14:creationId xmlns:p14="http://schemas.microsoft.com/office/powerpoint/2010/main" val="2068494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3941578" cy="742658"/>
          </a:xfrm>
        </p:spPr>
        <p:txBody>
          <a:bodyPr/>
          <a:lstStyle/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Датасет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517DD-7379-4EB5-98F4-2F52546E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213" y="1028177"/>
            <a:ext cx="10945752" cy="3023066"/>
          </a:xfrm>
        </p:spPr>
        <p:txBody>
          <a:bodyPr>
            <a:norm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Количество строк - 11 504 798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Количество столбцов 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-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11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Пропуски и дубликаты - отсутствуют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Признаки: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ч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исловые - 3 (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"Age", "</a:t>
            </a:r>
            <a:r>
              <a:rPr lang="en-US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Annual_Premium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", "Vintage"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категориальные - 2 (</a:t>
            </a:r>
            <a:r>
              <a:rPr lang="en-US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Region_Code</a:t>
            </a:r>
            <a:r>
              <a:rPr lang="en-US" dirty="0">
                <a:solidFill>
                  <a:srgbClr val="FFFFFF"/>
                </a:solidFill>
                <a:latin typeface="Arial" panose="020B0604020202020204" pitchFamily="34" charset="0"/>
              </a:rPr>
              <a:t>", "</a:t>
            </a:r>
            <a:r>
              <a:rPr 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Vehicle_Age</a:t>
            </a:r>
            <a:r>
              <a:rPr lang="en-US" dirty="0">
                <a:solidFill>
                  <a:srgbClr val="FFFFFF"/>
                </a:solidFill>
                <a:latin typeface="Arial" panose="020B0604020202020204" pitchFamily="34" charset="0"/>
              </a:rPr>
              <a:t>", "</a:t>
            </a:r>
            <a:r>
              <a:rPr 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Policy_Sales_Channel</a:t>
            </a:r>
            <a:r>
              <a:rPr lang="en-US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б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инарные 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- 4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(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"Gender", "</a:t>
            </a:r>
            <a:r>
              <a:rPr lang="en-US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Driving_License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", "</a:t>
            </a:r>
            <a:r>
              <a:rPr lang="en-US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Previously_Insured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", "</a:t>
            </a:r>
            <a:r>
              <a:rPr lang="en-US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Vehicle_Damage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п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орядковые - 1 (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en-US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Vehicle_Age</a:t>
            </a:r>
            <a:r>
              <a:rPr lang="en-US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dirty="0" err="1">
                <a:solidFill>
                  <a:srgbClr val="FFFFFF"/>
                </a:solidFill>
                <a:latin typeface="Arial" panose="020B0604020202020204" pitchFamily="34" charset="0"/>
              </a:rPr>
              <a:t>таргет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 – 1 (</a:t>
            </a:r>
            <a:r>
              <a:rPr lang="en-US" dirty="0">
                <a:solidFill>
                  <a:srgbClr val="FFFFFF"/>
                </a:solidFill>
                <a:latin typeface="Arial" panose="020B0604020202020204" pitchFamily="34" charset="0"/>
              </a:rPr>
              <a:t>"Response"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)</a:t>
            </a: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B82B22-81A6-44FA-B206-A7CCDF703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13" y="4167888"/>
            <a:ext cx="10945753" cy="2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280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3941578" cy="742658"/>
          </a:xfrm>
        </p:spPr>
        <p:txBody>
          <a:bodyPr/>
          <a:lstStyle/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таргет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517DD-7379-4EB5-98F4-2F52546E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213" y="1400735"/>
            <a:ext cx="5797269" cy="4250391"/>
          </a:xfrm>
        </p:spPr>
        <p:txBody>
          <a:bodyPr>
            <a:norm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Сильный дисбаланс классов: 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85% клиентов отвечают «Нет», 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15% клиентов отвечают «Да».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Это может привести к смещению модели в сторону "Нет", если не использовать правильные метрики и методы балансировки.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Модель должна быть обучена не на точности, а на способности находить редкие положительные случаи и минимизировать количество ложно-положительных ответов.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871A1F1-4234-4014-9D42-99A6AC072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9137" y="716056"/>
            <a:ext cx="4438650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000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0"/>
            <a:ext cx="4488422" cy="989187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Распределения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5A2B2B8-86FC-4C00-BC09-CACE6C461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13" y="1415188"/>
            <a:ext cx="6842534" cy="45463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8831DB7-B1CB-409E-8CA8-E512115D8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5640" y="1415188"/>
            <a:ext cx="2404169" cy="454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43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0"/>
            <a:ext cx="4488422" cy="989187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Распределения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FEFD27B-B901-4BE2-99AC-AB8322FF4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180" y="1165984"/>
            <a:ext cx="5124605" cy="254290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12DC21-2949-4562-81AF-2ED93404B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13" y="1165984"/>
            <a:ext cx="5124604" cy="254290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EBBDB86-BF1D-46FB-8C3C-678A36A9D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94" y="4068831"/>
            <a:ext cx="11187212" cy="243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729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Корреляция с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таргетом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по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пирсону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517DD-7379-4EB5-98F4-2F52546E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202" y="989186"/>
            <a:ext cx="5026304" cy="5578261"/>
          </a:xfrm>
        </p:spPr>
        <p:txBody>
          <a:bodyPr>
            <a:normAutofit fontScale="85000" lnSpcReduction="10000"/>
          </a:bodyPr>
          <a:lstStyle/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Vehicle_Damage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 +0.54 - сильный признак (клиенты с ДТП значительно чаще покупают 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доп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страховку)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Previously_Insured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 +0.52 - сильный признак (не застрахованные ранее - основная целевая аудитория)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Age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 +0.31- умеренный признак (старшие клиенты чаще соглашаются на 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доп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страховку)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Region_Code_Percentage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 +0.21- умеренный признак (клиенты из популярных регионов чаще соглашаются на 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доп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страховку)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Policy_Sales_Channel_Percentage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 +0.21- умеренный признак (клиенты из популярных каналов продаж чаще соглашаются на 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доп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страховку)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Vehicle_Age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 +0.14 - слабый признак, но полезный (старые авто - выше вероятность согласия на 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доп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страховку)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Остальные признаки слабо коррелируют с целевой переменной "</a:t>
            </a:r>
            <a:r>
              <a:rPr lang="ru-RU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Response</a:t>
            </a:r>
            <a:r>
              <a:rPr lang="ru-RU" sz="18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"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CBDB7AC-8318-462B-97A6-A5A4062F5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824" y="989186"/>
            <a:ext cx="6700974" cy="557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790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ru-RU" sz="36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Feature</a:t>
            </a:r>
            <a:r>
              <a:rPr lang="ru-RU" sz="3600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</a:t>
            </a:r>
            <a:r>
              <a:rPr lang="ru-RU" sz="36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Engineering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517DD-7379-4EB5-98F4-2F52546E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188" y="1108675"/>
            <a:ext cx="11779623" cy="5502795"/>
          </a:xfrm>
        </p:spPr>
        <p:txBody>
          <a:bodyPr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Найдены потенциально полезные признаки для </a:t>
            </a:r>
            <a:r>
              <a:rPr lang="ru-RU" sz="1400" dirty="0" err="1">
                <a:solidFill>
                  <a:srgbClr val="FFFFFF"/>
                </a:solidFill>
                <a:latin typeface="Arial" panose="020B0604020202020204" pitchFamily="34" charset="0"/>
              </a:rPr>
              <a:t>feature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</a:t>
            </a:r>
            <a:r>
              <a:rPr lang="ru-RU" sz="1400" dirty="0" err="1">
                <a:solidFill>
                  <a:srgbClr val="FFFFFF"/>
                </a:solidFill>
                <a:latin typeface="Arial" panose="020B0604020202020204" pitchFamily="34" charset="0"/>
              </a:rPr>
              <a:t>engineering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: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sz="1400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1.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Log_Annual_Premium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логарифмирование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Annual_Premium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делает распределение ближе к нормальному, что улучшает стабильность и точность модели.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2.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Age_to_Vintage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/ (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Vintage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+ 1)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отражает, насколько «зрелый» клиент относительно продолжительности его взаимодействия со страховой компанией.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3.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Premium_to_Age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Annual_Premium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/ (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+ 1)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позволяет оценить, насколько «дорого» застрахован клиент в контексте его возраста.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4.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Premium_to_Vintage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Annual_Premium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/ (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Vintage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+ 1)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показывает соотношение премии к длительности взаимоотношений с компанией.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5.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Age_Group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категоризация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на группы: 0–25, 25–35, 35–45, 45–55, 55–100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упрощает учёт нелинейной зависимости возраста от целевой переменной.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6.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Premium_Group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квинтильная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категоризация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Annual_Premium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на 5 групп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преобразует непрерывную переменную в порядковую, помогая модели улавливать нелинейные пороговые эффекты премии.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7.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No_Insurance_But_Damage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1, если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Previously_Insured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0 и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Vehicle_Damage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'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Yes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’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выделяет группу риска: клиенты без предыдущей страховки, но уже имеющие повреждения автомобиля.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8.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Age_Premium_Interaction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*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Annual_Premium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/ 1000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отражает мультипликативное взаимодействие возраста и премии, моделируя совокупный «вес» клиента.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9.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Licensed_Adult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1, если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Driving_License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1 и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≥ 18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выделяет типичных взрослых водителей, фильтруя нетипичные случаи и повышая устойчивость модели на реальных данных.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10.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Region_Channel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конкатенация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Region_Code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и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Policy_Sales_Channel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формирует уникальный идентификатор комбинации региона и канала продаж.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11.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Vintage_Group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= категоризация </a:t>
            </a:r>
            <a:r>
              <a:rPr lang="ru-RU" sz="1400" u="sng" dirty="0" err="1">
                <a:solidFill>
                  <a:srgbClr val="FFFFFF"/>
                </a:solidFill>
                <a:latin typeface="Arial" panose="020B0604020202020204" pitchFamily="34" charset="0"/>
              </a:rPr>
              <a:t>Vintage</a:t>
            </a:r>
            <a:r>
              <a:rPr lang="ru-RU" sz="1400" u="sng" dirty="0">
                <a:solidFill>
                  <a:srgbClr val="FFFFFF"/>
                </a:solidFill>
                <a:latin typeface="Arial" panose="020B0604020202020204" pitchFamily="34" charset="0"/>
              </a:rPr>
              <a:t> на группы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- помогает выявить нелинейные эффекты, связанные с «свежестью» клиента.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sz="1400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Все перечисленные признаки были протестированы на оптимизированных моделях </a:t>
            </a:r>
            <a:r>
              <a:rPr lang="ru-RU" sz="1400" dirty="0" err="1">
                <a:solidFill>
                  <a:srgbClr val="FFFFFF"/>
                </a:solidFill>
                <a:latin typeface="Arial" panose="020B0604020202020204" pitchFamily="34" charset="0"/>
              </a:rPr>
              <a:t>LightGBM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 и </a:t>
            </a:r>
            <a:r>
              <a:rPr lang="ru-RU" sz="1400" dirty="0" err="1">
                <a:solidFill>
                  <a:srgbClr val="FFFFFF"/>
                </a:solidFill>
                <a:latin typeface="Arial" panose="020B0604020202020204" pitchFamily="34" charset="0"/>
              </a:rPr>
              <a:t>CatBoost</a:t>
            </a:r>
            <a:r>
              <a:rPr lang="ru-RU" sz="1400" dirty="0">
                <a:solidFill>
                  <a:srgbClr val="FFFFFF"/>
                </a:solidFill>
                <a:latin typeface="Arial" panose="020B0604020202020204" pitchFamily="34" charset="0"/>
              </a:rPr>
              <a:t>. Однако ни один из них не привёл к улучшению метрики F1 — наоборот, качество моделей ухудшилось. Следовательно, включение этих признаков в финальную модель является избыточным и нецелесообразным.</a:t>
            </a:r>
          </a:p>
        </p:txBody>
      </p:sp>
    </p:spTree>
    <p:extLst>
      <p:ext uri="{BB962C8B-B14F-4D97-AF65-F5344CB8AC3E}">
        <p14:creationId xmlns:p14="http://schemas.microsoft.com/office/powerpoint/2010/main" val="2296705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Итоги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eda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517DD-7379-4EB5-98F4-2F52546E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213" y="1108675"/>
            <a:ext cx="11301598" cy="5502795"/>
          </a:xfrm>
        </p:spPr>
        <p:txBody>
          <a:bodyPr>
            <a:noAutofit/>
          </a:bodyPr>
          <a:lstStyle/>
          <a:p>
            <a:pPr marL="342900" indent="-342900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Большой объем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датасета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– нужно подбирать методы оптимизированного обучения моделей</a:t>
            </a:r>
          </a:p>
          <a:p>
            <a:pPr marL="342900" indent="-342900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Сильный дис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баланс по </a:t>
            </a:r>
            <a:r>
              <a:rPr lang="ru-RU" dirty="0" err="1">
                <a:solidFill>
                  <a:srgbClr val="FFFFFF"/>
                </a:solidFill>
                <a:latin typeface="Arial" panose="020B0604020202020204" pitchFamily="34" charset="0"/>
              </a:rPr>
              <a:t>таргету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 - 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нужно подбирать методы борьбы с дисбалансом</a:t>
            </a:r>
          </a:p>
          <a:p>
            <a:pPr marL="342900" indent="-342900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Бинарные признаки соотносятся примерно 1 к 1, кроме «</a:t>
            </a:r>
            <a:r>
              <a:rPr 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Driving_License</a:t>
            </a: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»</a:t>
            </a:r>
          </a:p>
          <a:p>
            <a:pPr marL="342900" indent="-342900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Числовые признаки стремятся к равномерному распределению</a:t>
            </a:r>
          </a:p>
          <a:p>
            <a:pPr marL="342900" indent="-342900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Большинство признаком умеренно коррелируют с </a:t>
            </a:r>
            <a:r>
              <a:rPr lang="ru-RU" dirty="0" err="1">
                <a:solidFill>
                  <a:srgbClr val="FFFFFF"/>
                </a:solidFill>
                <a:latin typeface="Arial" panose="020B0604020202020204" pitchFamily="34" charset="0"/>
              </a:rPr>
              <a:t>таргетом</a:t>
            </a:r>
            <a:endParaRPr lang="ru-RU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342900" indent="-342900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Так как пропуски отсутствуют, предобработку пропусков не делаем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Дубликаты также отсутствуют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Выявлены бинарные признаки: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Gender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,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Driving_License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,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Previously_Insured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,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Vehicle_Damage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. Для них применим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One-Hot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Encoding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с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drop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='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first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’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Так как в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Annual_Premium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сильные выбросы, то для данного признака будем применять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RobustScaler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вместо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StandardScaler</a:t>
            </a:r>
            <a:endParaRPr lang="ru-RU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Для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высококардинальных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признаков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Region_Code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,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Policy_Sales_Channel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будет использован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кастомный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трансформер для частотного кодирования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AutoNum type="arabicPeriod"/>
            </a:pP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Для моделей со встроенной предобработкой категориальных признаков переведем категориальные сразу в тип </a:t>
            </a: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category</a:t>
            </a:r>
            <a:endParaRPr lang="ru-RU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AutoNum type="arabicPeriod"/>
            </a:pPr>
            <a:r>
              <a:rPr lang="ru-RU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Кастомные</a:t>
            </a:r>
            <a:r>
              <a:rPr lang="ru-RU" i="0" u="none" strike="noStrike" dirty="0">
                <a:solidFill>
                  <a:srgbClr val="FFFFFF"/>
                </a:solidFill>
                <a:latin typeface="Arial" panose="020B0604020202020204" pitchFamily="34" charset="0"/>
              </a:rPr>
              <a:t> фичи не улучшают модель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AutoNum type="arabicPeriod"/>
            </a:pPr>
            <a:endParaRPr lang="ru-RU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34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Метрика качества –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f1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517DD-7379-4EB5-98F4-2F52546E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214" y="989186"/>
            <a:ext cx="11382280" cy="5539173"/>
          </a:xfrm>
        </p:spPr>
        <p:txBody>
          <a:bodyPr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400" i="0" dirty="0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рамках настоящего проекта в качестве основной метрики качества модели бинарной классификации была выбрана F1‑мера. Данный выбор обусловлен следующими ключевыми факторами: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400" u="none" strike="noStrike" cap="none" normalizeH="0" baseline="0" dirty="0">
              <a:ln>
                <a:noFill/>
              </a:ln>
              <a:solidFill>
                <a:srgbClr val="F7F8F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1. Наличие выраженного дисбаланса классов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Анализ показал, что целевой признак распределён неравномерно: доля положительных примеров составляет 15% от общего объёма данных. В таких условиях традиционные метрики, такие как доля верных ответов (</a:t>
            </a:r>
            <a:r>
              <a:rPr kumimoji="0" lang="ru-RU" altLang="ru-RU" sz="1400" i="0" u="none" strike="noStrike" cap="none" normalizeH="0" baseline="0" dirty="0" err="1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становятся неинформативными, поскольку модель, предсказывающая только отрицательный класс, может достичь высокой точности, оставаясь при этом практически бесполезной для решения поставленной задачи.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rgbClr val="F7F8FC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2. Практическая значимость обнаружения редкого класса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 проекта предполагает выявление важных событий для бизнеса</a:t>
            </a:r>
            <a:r>
              <a:rPr lang="ru-RU" altLang="ru-RU" sz="1400" dirty="0">
                <a:solidFill>
                  <a:srgbClr val="F7F8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подобных сценариях пропуск положительного случая (ложноотрицательная ошибка) может повлечь серьёзные последствия. В то же время чрезмерное количество ложноположительных срабатываний ведёт к неоправданным затратам ресурсов и снижению доверия к системе.</a:t>
            </a:r>
            <a:b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F1‑мера, являясь гармоническим средним между 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полнотой (</a:t>
            </a:r>
            <a:r>
              <a:rPr kumimoji="0" lang="ru-RU" altLang="ru-RU" sz="1400" b="1" i="0" u="none" strike="noStrike" cap="none" normalizeH="0" baseline="0" dirty="0" err="1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и точностью (</a:t>
            </a:r>
            <a:r>
              <a:rPr kumimoji="0" lang="ru-RU" altLang="ru-RU" sz="1400" b="1" i="0" u="none" strike="noStrike" cap="none" normalizeH="0" baseline="0" dirty="0" err="1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Precision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учитывает оба аспекта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обеспечивает сбалансированную оценку качества модели именно в контексте обнаружения редкого, но значимого класса.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rgbClr val="F7F8FC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3. Ориентация на реальный режим эксплуатации модели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отличие от интегральных метрик, таких как ROC‑AUC, F1‑мера оценивает качество модели при фиксированном пороге принятия решения. Это позволяет: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 проводить целенаправленную оптимизацию порога на </a:t>
            </a:r>
            <a:r>
              <a:rPr kumimoji="0" lang="ru-RU" altLang="ru-RU" sz="1400" i="0" u="none" strike="noStrike" cap="none" normalizeH="0" baseline="0" dirty="0" err="1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валидационной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выборке с целью максимизации F1,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 оценивать производительность модели в условиях, максимально приближенных к эксплуатационным.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rgbClr val="F7F8FC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4. Соответствие отраслевым стандартам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F1‑мера широко применяется в научных и прикладных исследованиях, связанных с задачами с дисбалансом классов — в частности, в медицинской диагностике, кибербезопасности и финансовой аналитике. Её использование обеспечивает сопоставимость результатов с аналогичными работами и соответствует общепринятым практикам в области машинного обучения.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ru-RU" sz="1400" i="0" u="none" strike="noStrike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9388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Baseline – Logistic Regression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78EDE4E-6B3F-4407-99FD-0AD98A89D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94" y="1334740"/>
            <a:ext cx="10818411" cy="418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33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10856764" cy="742658"/>
          </a:xfrm>
        </p:spPr>
        <p:txBody>
          <a:bodyPr>
            <a:no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Сравнение моделей без оптимизации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7065915-C395-4F5F-8F67-33239B322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13" y="1753008"/>
            <a:ext cx="10856765" cy="3351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41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223" y="246529"/>
            <a:ext cx="11797553" cy="742658"/>
          </a:xfrm>
        </p:spPr>
        <p:txBody>
          <a:bodyPr>
            <a:no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Сравнение моделей с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гипероптимизацией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9B134F-EEF7-40D5-BFA7-755F1E600CD2}"/>
              </a:ext>
            </a:extLst>
          </p:cNvPr>
          <p:cNvSpPr txBox="1"/>
          <p:nvPr/>
        </p:nvSpPr>
        <p:spPr>
          <a:xfrm>
            <a:off x="1783975" y="1370725"/>
            <a:ext cx="610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GridSearchCV</a:t>
            </a: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E0EE4C-7776-45AA-9C3F-DB6CF3AC52B5}"/>
              </a:ext>
            </a:extLst>
          </p:cNvPr>
          <p:cNvSpPr txBox="1"/>
          <p:nvPr/>
        </p:nvSpPr>
        <p:spPr>
          <a:xfrm>
            <a:off x="1783975" y="4169661"/>
            <a:ext cx="610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i="0" u="none" strike="noStrike" dirty="0" err="1">
                <a:solidFill>
                  <a:srgbClr val="FFFFFF"/>
                </a:solidFill>
                <a:latin typeface="Arial" panose="020B0604020202020204" pitchFamily="34" charset="0"/>
              </a:rPr>
              <a:t>Optuna</a:t>
            </a:r>
            <a:endParaRPr lang="ru-RU" sz="1800" i="0" u="none" strike="noStrike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FD46DD8-31AC-4530-8422-F634C676CB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7609"/>
          <a:stretch/>
        </p:blipFill>
        <p:spPr>
          <a:xfrm>
            <a:off x="1783975" y="1818269"/>
            <a:ext cx="8096540" cy="205958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AD1CB84-C5E4-4564-9D75-F639B94BAF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7845"/>
          <a:stretch/>
        </p:blipFill>
        <p:spPr>
          <a:xfrm>
            <a:off x="1783975" y="4629502"/>
            <a:ext cx="8096540" cy="205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0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Результаты лучшей модели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61BCCFA-E6B8-46CB-86FA-73AA620AA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13" y="1289953"/>
            <a:ext cx="10885194" cy="421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452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Feature Importance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8279196-5FCA-4F44-8B53-30C350AAC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574" y="1171342"/>
            <a:ext cx="8774852" cy="5229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511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246529"/>
            <a:ext cx="9947928" cy="742658"/>
          </a:xfrm>
        </p:spPr>
        <p:txBody>
          <a:bodyPr>
            <a:no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Things to be done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896359-3BBD-466B-8C60-FA5736DD44AB}"/>
              </a:ext>
            </a:extLst>
          </p:cNvPr>
          <p:cNvSpPr txBox="1"/>
          <p:nvPr/>
        </p:nvSpPr>
        <p:spPr>
          <a:xfrm>
            <a:off x="684213" y="1397675"/>
            <a:ext cx="1080854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нсамбли с балансировкой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i="0" dirty="0" err="1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Undersampling</a:t>
            </a:r>
            <a:r>
              <a:rPr lang="en-US" i="0" dirty="0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i="0" dirty="0" err="1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RandomUnderSampler</a:t>
            </a:r>
            <a:r>
              <a:rPr lang="en-US" i="0" dirty="0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Tomek links)</a:t>
            </a:r>
            <a:endParaRPr lang="en-US" i="0" dirty="0">
              <a:solidFill>
                <a:srgbClr val="F7F8F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i="0" dirty="0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Oversampling </a:t>
            </a:r>
            <a:r>
              <a:rPr lang="en-US" dirty="0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0" dirty="0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SMOTE, ADASYN</a:t>
            </a:r>
            <a:r>
              <a:rPr lang="en-US" dirty="0">
                <a:solidFill>
                  <a:srgbClr val="F7F8FC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>
                <a:solidFill>
                  <a:srgbClr val="F7F8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Попробовать </a:t>
            </a:r>
            <a:r>
              <a:rPr lang="ru-RU" dirty="0">
                <a:solidFill>
                  <a:srgbClr val="F7F8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метрики устойчивые к дисбалансу (</a:t>
            </a:r>
            <a:r>
              <a:rPr lang="en-US" dirty="0">
                <a:solidFill>
                  <a:srgbClr val="F7F8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Precision-Recall AUC</a:t>
            </a:r>
            <a:r>
              <a:rPr lang="ru-RU" dirty="0">
                <a:solidFill>
                  <a:srgbClr val="F7F8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Поресерчить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и попробовать другие техники борьбы с дисбалансом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Попробовать другие наборы параметров для подбора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гиперпараметров</a:t>
            </a:r>
            <a:endParaRPr lang="ru-RU" sz="18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Еще оптимизировать скорость для больших данных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данном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датасете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было ни дубликатов ни пропусков, добавить предобработку данных если появятся новые данные где будут дубликаты и/или пропуски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Имитировать ситуацию с дополнением новых данных и протестировать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предобработчик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пропусков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Доработать существующие и добавить другие методы для конструктора моделей (например, применения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importance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удаление данных по итогам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importance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Найти и опробовать другие потенциально полезные признаки с помощью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ru-RU" sz="1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  <a:endParaRPr lang="ru-RU" sz="18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564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2990F-25E1-48DF-8CC4-8A6CD278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171" y="3057671"/>
            <a:ext cx="6067658" cy="742658"/>
          </a:xfrm>
        </p:spPr>
        <p:txBody>
          <a:bodyPr>
            <a:no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0FF8D-6529-45E5-96C1-AC96939828DC}"/>
              </a:ext>
            </a:extLst>
          </p:cNvPr>
          <p:cNvSpPr txBox="1"/>
          <p:nvPr/>
        </p:nvSpPr>
        <p:spPr>
          <a:xfrm>
            <a:off x="165845" y="4900590"/>
            <a:ext cx="114613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Git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Hub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https://github.com/taysumova/urfu_ml/tree/main</a:t>
            </a:r>
            <a:endParaRPr lang="ru-RU" sz="18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ru-RU" sz="1800" b="0" dirty="0">
                <a:effectLst/>
              </a:rPr>
            </a:b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Google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Colab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: https://colab.research.google.com/github/taysumova/urfu_ml/blob/main/Кейс_10_Бинарная_классификация_перекрёстных_продаж_страхования.ipynb</a:t>
            </a:r>
            <a:endParaRPr lang="ru-RU" sz="18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79057127"/>
      </p:ext>
    </p:extLst>
  </p:cSld>
  <p:clrMapOvr>
    <a:masterClrMapping/>
  </p:clrMapOvr>
</p:sld>
</file>

<file path=ppt/theme/theme1.xml><?xml version="1.0" encoding="utf-8"?>
<a:theme xmlns:a="http://schemas.openxmlformats.org/drawingml/2006/main" name="Сектор">
  <a:themeElements>
    <a:clrScheme name="Сектор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Сектор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ектор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372</TotalTime>
  <Words>1450</Words>
  <Application>Microsoft Office PowerPoint</Application>
  <PresentationFormat>Широкоэкранный</PresentationFormat>
  <Paragraphs>119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Century Gothic</vt:lpstr>
      <vt:lpstr>Wingdings 3</vt:lpstr>
      <vt:lpstr>Сектор</vt:lpstr>
      <vt:lpstr>Кейс 10: Бинарная классификация перекрёстных продаж страхования</vt:lpstr>
      <vt:lpstr>Цели и задачи</vt:lpstr>
      <vt:lpstr>Датасет</vt:lpstr>
      <vt:lpstr>таргет</vt:lpstr>
      <vt:lpstr>Распределения</vt:lpstr>
      <vt:lpstr>Распределения</vt:lpstr>
      <vt:lpstr>Корреляция с таргетом по пирсону</vt:lpstr>
      <vt:lpstr>Feature Engineering</vt:lpstr>
      <vt:lpstr>Итоги eda</vt:lpstr>
      <vt:lpstr>Метрика качества – f1</vt:lpstr>
      <vt:lpstr>Baseline – Logistic Regression</vt:lpstr>
      <vt:lpstr>Сравнение моделей без оптимизации</vt:lpstr>
      <vt:lpstr>Сравнение моделей с гипероптимизацией</vt:lpstr>
      <vt:lpstr>Результаты лучшей модели </vt:lpstr>
      <vt:lpstr>Feature Importance</vt:lpstr>
      <vt:lpstr>Things to be done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Кейс 10: Бинарная классификация перекрёстных продаж страхования</dc:title>
  <dc:creator>Пользователь</dc:creator>
  <cp:lastModifiedBy>Пользователь</cp:lastModifiedBy>
  <cp:revision>6</cp:revision>
  <dcterms:created xsi:type="dcterms:W3CDTF">2025-12-25T15:42:04Z</dcterms:created>
  <dcterms:modified xsi:type="dcterms:W3CDTF">2025-12-27T11:19:03Z</dcterms:modified>
</cp:coreProperties>
</file>