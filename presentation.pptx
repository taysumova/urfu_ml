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5" r:id="rId8"/>
    <p:sldId id="266" r:id="rId9"/>
    <p:sldId id="267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666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806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476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58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313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90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2946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85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055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90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920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9564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217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8958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877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757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32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C1D07E2-03B8-4D57-B77D-FCE75706A5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7AD92CD-026C-4BB0-A6AE-8C2A2A3995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9163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7C33A7-BC26-44DE-A74E-C27DBDA06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255493"/>
            <a:ext cx="9705882" cy="1947334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40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Кейс 10: Бинарная классификация перекрёстных продаж страхования</a:t>
            </a:r>
            <a:endParaRPr lang="ru-RU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21F797-2712-4B5B-8C78-BC9729D6F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2840815"/>
            <a:ext cx="10718894" cy="1947333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Команда “Страховщики”:</a:t>
            </a:r>
            <a:endParaRPr lang="ru-RU" sz="1800" b="0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Иванков Дмитрий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Луиза </a:t>
            </a:r>
            <a:r>
              <a:rPr lang="ru-RU" sz="1800" b="0" i="0" u="none" strike="noStrike" dirty="0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Тайсумова</a:t>
            </a:r>
            <a:endParaRPr lang="ru-RU" sz="1800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Андрей </a:t>
            </a:r>
            <a:r>
              <a:rPr lang="ru-RU" sz="1800" b="0" i="0" u="none" strike="noStrike" dirty="0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Плахотин</a:t>
            </a:r>
            <a:endParaRPr lang="ru-RU" sz="1800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Дмитрий Мартынов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Роман Осипов</a:t>
            </a:r>
            <a:endParaRPr lang="ru-RU" sz="18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ru-RU" sz="1800" b="0" dirty="0">
                <a:effectLst/>
              </a:rPr>
            </a:br>
            <a:r>
              <a:rPr lang="ru-RU" sz="1800" b="0" i="0" u="none" strike="noStrike" dirty="0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Git</a:t>
            </a: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800" b="0" i="0" u="none" strike="noStrike" dirty="0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Hub</a:t>
            </a: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https://github.com/taysumova/urfu_ml/tree/main</a:t>
            </a:r>
            <a:endParaRPr lang="ru-RU" sz="1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sz="1800" b="0" dirty="0">
                <a:effectLst/>
              </a:rPr>
            </a:br>
            <a:r>
              <a:rPr lang="ru-RU" sz="1800" b="0" i="0" u="none" strike="noStrike" dirty="0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Google</a:t>
            </a: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800" b="0" i="0" u="none" strike="noStrike" dirty="0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 https://colab.research.google.com/github/taysumova/urfu_ml/blob/main/Кейс_10_Бинарная_классификация_перекрёстных_продаж_страхования.ipynb</a:t>
            </a:r>
            <a:endParaRPr lang="ru-RU" sz="1800" b="0" dirty="0">
              <a:effectLst/>
            </a:endParaRPr>
          </a:p>
          <a:p>
            <a:br>
              <a:rPr lang="ru-RU" sz="1800" b="0" dirty="0">
                <a:effectLst/>
              </a:rPr>
            </a:b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980156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46529"/>
            <a:ext cx="3941578" cy="742658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Цели и 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B517DD-7379-4EB5-98F4-2F52546ED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503829"/>
            <a:ext cx="8534400" cy="2433918"/>
          </a:xfrm>
        </p:spPr>
        <p:txBody>
          <a:bodyPr>
            <a:normAutofit lnSpcReduction="1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Цель – на основе представленных данных научиться распознавать  откликнется ли клиент страховой компании на предложение дополнительной автостраховки на основе его демографических и поведенческих характеристик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ru-RU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ru-RU" sz="18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Задача - обучить модель бинарной классификации для прогнозирования отклика клиент страховой компании на предложение дополнительной автостраховки</a:t>
            </a:r>
          </a:p>
        </p:txBody>
      </p:sp>
    </p:spTree>
    <p:extLst>
      <p:ext uri="{BB962C8B-B14F-4D97-AF65-F5344CB8AC3E}">
        <p14:creationId xmlns:p14="http://schemas.microsoft.com/office/powerpoint/2010/main" val="2068494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46529"/>
            <a:ext cx="3941578" cy="742658"/>
          </a:xfrm>
        </p:spPr>
        <p:txBody>
          <a:bodyPr/>
          <a:lstStyle/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Датасет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B517DD-7379-4EB5-98F4-2F52546ED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503829"/>
            <a:ext cx="10945752" cy="2433918"/>
          </a:xfrm>
        </p:spPr>
        <p:txBody>
          <a:bodyPr>
            <a:normAutofit lnSpcReduction="1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Количество строк - 11 504 798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Количество столбцов - 11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ru-RU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</a:rPr>
              <a:t>Признаки: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</a:rPr>
              <a:t>ч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исловые - 3 (</a:t>
            </a:r>
            <a:r>
              <a:rPr lang="en-US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"Age", "</a:t>
            </a:r>
            <a:r>
              <a:rPr lang="en-US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Annual_Premium</a:t>
            </a:r>
            <a:r>
              <a:rPr lang="en-US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", "Vintage"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</a:rPr>
              <a:t>категориальные - 2 (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</a:rPr>
              <a:t>"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</a:rPr>
              <a:t>Region_Code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</a:rPr>
              <a:t>", "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</a:rPr>
              <a:t>Vehicle_Age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</a:rPr>
              <a:t>", "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</a:rPr>
              <a:t>Policy_Sales_Channel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</a:rPr>
              <a:t>"</a:t>
            </a: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</a:rPr>
              <a:t>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</a:rPr>
              <a:t>б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инарные </a:t>
            </a: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</a:rPr>
              <a:t>- 4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 (</a:t>
            </a:r>
            <a:r>
              <a:rPr lang="en-US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"Gender", "</a:t>
            </a:r>
            <a:r>
              <a:rPr lang="en-US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Driving_License</a:t>
            </a:r>
            <a:r>
              <a:rPr lang="en-US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", "</a:t>
            </a:r>
            <a:r>
              <a:rPr lang="en-US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Previously_Insured</a:t>
            </a:r>
            <a:r>
              <a:rPr lang="en-US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", "</a:t>
            </a:r>
            <a:r>
              <a:rPr lang="en-US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Vehicle_Damage</a:t>
            </a:r>
            <a:r>
              <a:rPr lang="en-US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</a:rPr>
              <a:t>п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орядковые - 1 (</a:t>
            </a:r>
            <a:r>
              <a:rPr lang="en-US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</a:t>
            </a:r>
            <a:r>
              <a:rPr lang="en-US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Vehicle_Age</a:t>
            </a:r>
            <a:r>
              <a:rPr lang="en-US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dirty="0" err="1">
                <a:solidFill>
                  <a:srgbClr val="FFFFFF"/>
                </a:solidFill>
                <a:latin typeface="Arial" panose="020B0604020202020204" pitchFamily="34" charset="0"/>
              </a:rPr>
              <a:t>таргет</a:t>
            </a: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</a:rPr>
              <a:t> – 1 (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</a:rPr>
              <a:t>"Response"</a:t>
            </a:r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</a:rPr>
              <a:t>)</a:t>
            </a:r>
            <a:endParaRPr lang="ru-RU" sz="18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B82B22-81A6-44FA-B206-A7CCDF703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4167888"/>
            <a:ext cx="10945753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8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46529"/>
            <a:ext cx="3941578" cy="742658"/>
          </a:xfrm>
        </p:spPr>
        <p:txBody>
          <a:bodyPr/>
          <a:lstStyle/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таргет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B517DD-7379-4EB5-98F4-2F52546ED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735"/>
            <a:ext cx="5797269" cy="4250391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Сильный дисбаланс классов: 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85% клиентов отвечают «Нет», 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15% клиентов отвечают «Да».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ru-RU" sz="18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Это может привести к смещению модели в сторону "Нет", если не использовать правильные метрики и методы балансировки.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ru-RU" sz="18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Модель должна быть обучена не на точности, а на способности находить редкие положительные случаи и минимизировать количество ложно-положительных ответов.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71A1F1-4234-4014-9D42-99A6AC072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137" y="716056"/>
            <a:ext cx="443865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0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0"/>
            <a:ext cx="4488422" cy="989187"/>
          </a:xfrm>
        </p:spPr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Распределения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5A2B2B8-86FC-4C00-BC09-CACE6C461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1415188"/>
            <a:ext cx="6842534" cy="45463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8831DB7-B1CB-409E-8CA8-E512115D8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640" y="1415188"/>
            <a:ext cx="2404169" cy="454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43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0"/>
            <a:ext cx="4488422" cy="989187"/>
          </a:xfrm>
        </p:spPr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Распределения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FEFD27B-B901-4BE2-99AC-AB8322FF4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180" y="1165984"/>
            <a:ext cx="5124605" cy="254290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12DC21-2949-4562-81AF-2ED93404B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3" y="1165984"/>
            <a:ext cx="5124604" cy="25429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BBDB86-BF1D-46FB-8C3C-678A36A9D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94" y="4068831"/>
            <a:ext cx="11187212" cy="243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29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46529"/>
            <a:ext cx="9947928" cy="742658"/>
          </a:xfrm>
        </p:spPr>
        <p:txBody>
          <a:bodyPr>
            <a:no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Корреляция с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таргетом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пирсону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B517DD-7379-4EB5-98F4-2F52546ED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202" y="989186"/>
            <a:ext cx="5026304" cy="5578261"/>
          </a:xfrm>
        </p:spPr>
        <p:txBody>
          <a:bodyPr>
            <a:normAutofit fontScale="85000" lnSpcReduction="10000"/>
          </a:bodyPr>
          <a:lstStyle/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</a:t>
            </a:r>
            <a:r>
              <a:rPr lang="ru-RU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Vehicle_Damage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 +0.54 - сильный признак (клиенты с ДТП значительно чаще покупают </a:t>
            </a:r>
            <a:r>
              <a:rPr lang="ru-RU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доп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 страховку)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sz="18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</a:t>
            </a:r>
            <a:r>
              <a:rPr lang="ru-RU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Previously_Insured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 +0.52 - сильный признак (не застрахованные ранее - основная целевая аудитория)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sz="18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</a:t>
            </a:r>
            <a:r>
              <a:rPr lang="ru-RU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Age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 +0.31- умеренный признак (старшие клиенты чаще соглашаются на </a:t>
            </a:r>
            <a:r>
              <a:rPr lang="ru-RU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доп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 страховку)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sz="18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</a:t>
            </a:r>
            <a:r>
              <a:rPr lang="ru-RU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Region_Code_Percentage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 +0.21- умеренный признак (клиенты из популярных регионов чаще соглашаются на </a:t>
            </a:r>
            <a:r>
              <a:rPr lang="ru-RU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доп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 страховку)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sz="18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</a:t>
            </a:r>
            <a:r>
              <a:rPr lang="ru-RU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Policy_Sales_Channel_Percentage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 +0.21- умеренный признак (клиенты из популярных каналов продаж чаще соглашаются на </a:t>
            </a:r>
            <a:r>
              <a:rPr lang="ru-RU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доп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 страховку)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sz="18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</a:t>
            </a:r>
            <a:r>
              <a:rPr lang="ru-RU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Vehicle_Age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 +0.14 - слабый признак, но полезный (старые авто - выше вероятность согласия на </a:t>
            </a:r>
            <a:r>
              <a:rPr lang="ru-RU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доп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 страховку)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sz="18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Остальные признаки слабо коррелируют с целевой переменной "</a:t>
            </a:r>
            <a:r>
              <a:rPr lang="ru-RU" sz="18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Response</a:t>
            </a:r>
            <a:r>
              <a:rPr lang="ru-RU" sz="18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"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sz="18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BDB7AC-8318-462B-97A6-A5A4062F5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824" y="989186"/>
            <a:ext cx="6700974" cy="55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79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46529"/>
            <a:ext cx="9947928" cy="742658"/>
          </a:xfrm>
        </p:spPr>
        <p:txBody>
          <a:bodyPr>
            <a:no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Итоги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B517DD-7379-4EB5-98F4-2F52546ED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188" y="1108675"/>
            <a:ext cx="11779623" cy="5502795"/>
          </a:xfrm>
        </p:spPr>
        <p:txBody>
          <a:bodyPr>
            <a:noAutofit/>
          </a:bodyPr>
          <a:lstStyle/>
          <a:p>
            <a:pPr marL="342900" indent="-342900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Большой объем </a:t>
            </a:r>
            <a:r>
              <a:rPr lang="ru-RU" sz="16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датасета</a:t>
            </a: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 – нужно подбирать методы оптимизированного обучения моделей</a:t>
            </a: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600" dirty="0">
                <a:solidFill>
                  <a:srgbClr val="FFFFFF"/>
                </a:solidFill>
                <a:latin typeface="Arial" panose="020B0604020202020204" pitchFamily="34" charset="0"/>
              </a:rPr>
              <a:t>Достаточное количество признаков</a:t>
            </a: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Сильный дис</a:t>
            </a:r>
            <a:r>
              <a:rPr lang="ru-RU" sz="1600" dirty="0">
                <a:solidFill>
                  <a:srgbClr val="FFFFFF"/>
                </a:solidFill>
                <a:latin typeface="Arial" panose="020B0604020202020204" pitchFamily="34" charset="0"/>
              </a:rPr>
              <a:t>баланс по </a:t>
            </a:r>
            <a:r>
              <a:rPr lang="ru-RU" sz="1600" dirty="0" err="1">
                <a:solidFill>
                  <a:srgbClr val="FFFFFF"/>
                </a:solidFill>
                <a:latin typeface="Arial" panose="020B0604020202020204" pitchFamily="34" charset="0"/>
              </a:rPr>
              <a:t>таргету</a:t>
            </a:r>
            <a:r>
              <a:rPr lang="ru-RU" sz="1600" dirty="0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нужно подбирать методы борьбы с дисбалансом</a:t>
            </a: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600" dirty="0">
                <a:solidFill>
                  <a:srgbClr val="FFFFFF"/>
                </a:solidFill>
                <a:latin typeface="Arial" panose="020B0604020202020204" pitchFamily="34" charset="0"/>
              </a:rPr>
              <a:t>Бинарные признаки соотносятся примерно 1 к 1, кроме «</a:t>
            </a:r>
            <a:r>
              <a:rPr lang="en-US" sz="1600" dirty="0" err="1">
                <a:solidFill>
                  <a:srgbClr val="FFFFFF"/>
                </a:solidFill>
                <a:latin typeface="Arial" panose="020B0604020202020204" pitchFamily="34" charset="0"/>
              </a:rPr>
              <a:t>Driving_License</a:t>
            </a:r>
            <a:r>
              <a:rPr lang="ru-RU" sz="1600" dirty="0">
                <a:solidFill>
                  <a:srgbClr val="FFFFFF"/>
                </a:solidFill>
                <a:latin typeface="Arial" panose="020B0604020202020204" pitchFamily="34" charset="0"/>
              </a:rPr>
              <a:t>»</a:t>
            </a: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Числовые признаки стремятся к равномерному распределению</a:t>
            </a: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600" dirty="0">
                <a:solidFill>
                  <a:srgbClr val="FFFFFF"/>
                </a:solidFill>
                <a:latin typeface="Arial" panose="020B0604020202020204" pitchFamily="34" charset="0"/>
              </a:rPr>
              <a:t>Большинство признаком умеренно коррелируют с </a:t>
            </a:r>
            <a:r>
              <a:rPr lang="ru-RU" sz="1600" dirty="0" err="1">
                <a:solidFill>
                  <a:srgbClr val="FFFFFF"/>
                </a:solidFill>
                <a:latin typeface="Arial" panose="020B0604020202020204" pitchFamily="34" charset="0"/>
              </a:rPr>
              <a:t>таргетом</a:t>
            </a:r>
            <a:endParaRPr lang="ru-RU" sz="160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Для </a:t>
            </a:r>
            <a:r>
              <a:rPr lang="ru-RU" sz="16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высококардинальных</a:t>
            </a: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 признаков использовать - </a:t>
            </a:r>
            <a:r>
              <a:rPr lang="en-US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Frequency Encoding</a:t>
            </a:r>
            <a:endParaRPr lang="ru-RU" sz="16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Для бинарных признаков - </a:t>
            </a:r>
            <a:r>
              <a:rPr lang="en-US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One-Hot Encoding</a:t>
            </a:r>
            <a:endParaRPr lang="ru-RU" sz="16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Для порядковых признаков - </a:t>
            </a:r>
            <a:r>
              <a:rPr lang="en-US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Ordinal Encoding</a:t>
            </a:r>
            <a:endParaRPr lang="ru-RU" sz="16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ru-RU" sz="160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ru-RU" sz="160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6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Feature</a:t>
            </a: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ru-RU" sz="16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Engineering</a:t>
            </a:r>
            <a:r>
              <a:rPr lang="en-US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1. Существующие признаки уже информативны и интерпретируемы — сильные предикторы (</a:t>
            </a:r>
            <a:r>
              <a:rPr lang="ru-RU" sz="16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Vehicle_Damage</a:t>
            </a: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, </a:t>
            </a:r>
            <a:r>
              <a:rPr lang="ru-RU" sz="16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Previously_Insured</a:t>
            </a: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) — бинарные, их комбинирование не даст устойчивых синтетических признаков из-за дисбаланса.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2. Риск переобучения — создание полиномов и взаимодействий увеличит размерность, но не улучшит обобщающую способность на новых данных, особенно при дисбалансе классов.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3. Современные модели (</a:t>
            </a:r>
            <a:r>
              <a:rPr lang="ru-RU" sz="16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CatBoost</a:t>
            </a: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, LGBM) эффективно работают с сырыми признаками и сами выявляют нелинейные зависимости в процессе обучения.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ru-RU" sz="16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Таким образом, целенаправленный </a:t>
            </a:r>
            <a:r>
              <a:rPr lang="ru-RU" sz="16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Feature</a:t>
            </a: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ru-RU" sz="16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Engineering</a:t>
            </a: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 не требуется </a:t>
            </a:r>
            <a:r>
              <a:rPr lang="en-US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-</a:t>
            </a:r>
            <a:r>
              <a:rPr lang="ru-RU" sz="1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 достаточно качественной предобработки и правильного выбора модели.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ru-RU" sz="1600" i="0" u="none" strike="noStrike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340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46529"/>
            <a:ext cx="9947928" cy="742658"/>
          </a:xfrm>
        </p:spPr>
        <p:txBody>
          <a:bodyPr>
            <a:no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Метрика качества 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f1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B517DD-7379-4EB5-98F4-2F52546ED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4" y="989186"/>
            <a:ext cx="11382280" cy="5539173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i="0" dirty="0"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рамках настоящего проекта в качестве основной метрики качества модели бинарной классификации была выбрана F1‑мера. Данный выбор обусловлен следующими ключевыми факторами: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u="none" strike="noStrike" cap="none" normalizeH="0" baseline="0" dirty="0">
              <a:ln>
                <a:noFill/>
              </a:ln>
              <a:solidFill>
                <a:srgbClr val="F7F8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Наличие выраженного дисбаланса классов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Анализ показал, что целевой признак распределён неравномерно: доля положительных примеров составляет 15 % от общего объёма данных. В таких условиях традиционные метрики, такие как доля верных ответов (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становятся неинформативными, поскольку модель, предсказывающая только отрицательный класс, может достичь высокой точности, оставаясь при этом практически бесполезной для решения поставленной задачи.</a:t>
            </a: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rgbClr val="F7F8F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Практическая значимость обнаружения редкого класса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Задача проекта предполагает выявление важных событий для бизнеса</a:t>
            </a:r>
            <a:r>
              <a:rPr lang="ru-RU" altLang="ru-RU" sz="1400" dirty="0">
                <a:solidFill>
                  <a:srgbClr val="F7F8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подобных сценариях пропуск положительного случая (ложноотрицательная ошибка) может повлечь серьёзные последствия. В то же время чрезмерное количество ложноположительных срабатываний ведёт к неоправданным затратам ресурсов и снижению доверия к системе.</a:t>
            </a:r>
            <a:b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F1‑мера, являясь гармоническим средним между 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полнотой (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и точностью (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учитывает оба аспекта 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 обеспечивает сбалансированную оценку качества модели именно в контексте обнаружения редкого, но значимого класса.</a:t>
            </a: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rgbClr val="F7F8F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Ориентация на реальный режим эксплуатации модели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отличие от интегральных метрик, таких как ROC‑AUC, F1‑мера оценивает качество модели при фиксированном пороге принятия решения. Это позволяет:</a:t>
            </a: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проводить целенаправленную оптимизацию порога на 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валидационной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выборке с целью максимизации F1,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оценивать производительность модели в условиях, максимально приближенных к эксплуатационным.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rgbClr val="F7F8F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Соответствие отраслевым стандартам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F1‑мера широко применяется в научных и прикладных исследованиях, связанных с задачами с дисбалансом классов — в частности, в медицинской диагностике, кибербезопасности и финансовой аналитике. Её использование обеспечивает сопоставимость результатов с аналогичными работами и соответствует общепринятым практикам в области машинного обучения.</a:t>
            </a: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ru-RU" sz="1400" i="0" u="none" strike="noStrike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388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46529"/>
            <a:ext cx="9947928" cy="742658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Baseline – Logistic Regression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0A1555-3395-4C73-8900-9DCAE71EE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189" y="989187"/>
            <a:ext cx="7141975" cy="38122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24E573E-1236-4AF9-A98F-720B3D204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040" y="5040022"/>
            <a:ext cx="5344271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233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46529"/>
            <a:ext cx="9947928" cy="742658"/>
          </a:xfrm>
        </p:spPr>
        <p:txBody>
          <a:bodyPr>
            <a:no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Сравнение результатов моделей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DA1F46-A044-4526-94D0-BED8C27284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871" b="4524"/>
          <a:stretch/>
        </p:blipFill>
        <p:spPr>
          <a:xfrm>
            <a:off x="1162377" y="1111623"/>
            <a:ext cx="9867246" cy="209774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2FE4831-AFF9-48D7-9B7C-8AA63C551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176" y="3331801"/>
            <a:ext cx="6229648" cy="329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41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12" y="223251"/>
            <a:ext cx="3421622" cy="1766047"/>
          </a:xfrm>
        </p:spPr>
        <p:txBody>
          <a:bodyPr>
            <a:no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Сравнение результатов моделей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F8E430-9F3E-4C52-99DA-CF68A40B6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223251"/>
            <a:ext cx="7951695" cy="638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76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46529"/>
            <a:ext cx="9947928" cy="742658"/>
          </a:xfrm>
        </p:spPr>
        <p:txBody>
          <a:bodyPr>
            <a:no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Подбор порогов для топ 3 моделей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CA0C6F-FA43-4FDC-971E-2CA3AA220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00" y="1920093"/>
            <a:ext cx="11046799" cy="301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00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46529"/>
            <a:ext cx="9947928" cy="742658"/>
          </a:xfrm>
        </p:spPr>
        <p:txBody>
          <a:bodyPr>
            <a:no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Результаты лучшей модели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7BAD6B-83DA-41E8-AE7B-21BAE3F27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0" y="1729348"/>
            <a:ext cx="3818793" cy="33993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DA7ECA-281D-42F5-B990-9D8846F37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585" y="1190625"/>
            <a:ext cx="751183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452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46529"/>
            <a:ext cx="9947928" cy="742658"/>
          </a:xfrm>
        </p:spPr>
        <p:txBody>
          <a:bodyPr>
            <a:noAutofit/>
          </a:bodyPr>
          <a:lstStyle/>
          <a:p>
            <a:r>
              <a:rPr lang="ru-RU" sz="36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Feature</a:t>
            </a:r>
            <a:r>
              <a:rPr lang="ru-RU" sz="3600" i="0" u="none" strike="noStrike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ru-RU" sz="3600" i="0" u="none" strike="noStrike" dirty="0" err="1">
                <a:solidFill>
                  <a:srgbClr val="FFFFFF"/>
                </a:solidFill>
                <a:latin typeface="Arial" panose="020B0604020202020204" pitchFamily="34" charset="0"/>
              </a:rPr>
              <a:t>Engineering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3B7A03-E6C0-4FB5-9378-46A44BDBA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397" y="3626921"/>
            <a:ext cx="3567962" cy="317602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1491F4-C587-4E79-8888-6CFEA002C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41" y="3626922"/>
            <a:ext cx="8015431" cy="3176027"/>
          </a:xfrm>
          <a:prstGeom prst="rect">
            <a:avLst/>
          </a:prstGeom>
        </p:spPr>
      </p:pic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1DE769AF-5372-40C4-A1AE-A084A3FD4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67986"/>
              </p:ext>
            </p:extLst>
          </p:nvPr>
        </p:nvGraphicFramePr>
        <p:xfrm>
          <a:off x="221641" y="954026"/>
          <a:ext cx="11748718" cy="2667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158053">
                  <a:extLst>
                    <a:ext uri="{9D8B030D-6E8A-4147-A177-3AD203B41FA5}">
                      <a16:colId xmlns:a16="http://schemas.microsoft.com/office/drawing/2014/main" val="3494919466"/>
                    </a:ext>
                  </a:extLst>
                </a:gridCol>
                <a:gridCol w="8590665">
                  <a:extLst>
                    <a:ext uri="{9D8B030D-6E8A-4147-A177-3AD203B41FA5}">
                      <a16:colId xmlns:a16="http://schemas.microsoft.com/office/drawing/2014/main" val="4051842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Новая фича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Применение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276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Log_Annual_Premium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Логарифмирование стабилизирует дисперсию, уменьшает влияние выбросов и делает распределение более нормальным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572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Premium_per_Age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Позволяет модели уловить относительную финансовую нагрузку страховки к возрасту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727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Old_Car_With_Damage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Взаимодействие двух факторов риска. Модель может уловить нелинейный эффект, который по отдельности признаки не покажут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482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Female_With_Damage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Эта фича проверяет, есть ли специфический паттерн у женщин с повреждениями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4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New_Customer_Rate_By_Channel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Модель получает агрегированную информацию о "типе клиента", связанного с каналом, даже если сам клиент - новый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69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520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46529"/>
            <a:ext cx="9947928" cy="742658"/>
          </a:xfrm>
        </p:spPr>
        <p:txBody>
          <a:bodyPr>
            <a:no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Что можно попробовать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896359-3BBD-466B-8C60-FA5736DD44AB}"/>
              </a:ext>
            </a:extLst>
          </p:cNvPr>
          <p:cNvSpPr txBox="1"/>
          <p:nvPr/>
        </p:nvSpPr>
        <p:spPr>
          <a:xfrm>
            <a:off x="684213" y="1397675"/>
            <a:ext cx="108085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ru-RU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нсамбли с балансировкой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i="0" dirty="0" err="1"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Undersampling</a:t>
            </a:r>
            <a:r>
              <a:rPr lang="en-US" i="0" dirty="0"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i="0" dirty="0" err="1"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RandomUnderSampler</a:t>
            </a:r>
            <a:r>
              <a:rPr lang="en-US" i="0" dirty="0"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Tomek links)</a:t>
            </a:r>
            <a:endParaRPr lang="en-US" i="0" dirty="0">
              <a:solidFill>
                <a:srgbClr val="F7F8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i="0" dirty="0"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Oversampling </a:t>
            </a:r>
            <a:r>
              <a:rPr lang="en-US" dirty="0"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0" dirty="0"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SMOTE, ADASYN</a:t>
            </a:r>
            <a:r>
              <a:rPr lang="en-US" dirty="0">
                <a:solidFill>
                  <a:srgbClr val="F7F8F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sz="1800" dirty="0">
                <a:solidFill>
                  <a:srgbClr val="F7F8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Попробовать </a:t>
            </a:r>
            <a:r>
              <a:rPr lang="ru-RU" dirty="0">
                <a:solidFill>
                  <a:srgbClr val="F7F8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метрики устойчивые к дисбалансу (</a:t>
            </a:r>
            <a:r>
              <a:rPr lang="en-US" dirty="0">
                <a:solidFill>
                  <a:srgbClr val="F7F8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Precision-Recall AUC</a:t>
            </a:r>
            <a:r>
              <a:rPr lang="ru-RU" dirty="0">
                <a:solidFill>
                  <a:srgbClr val="F7F8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ru-RU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564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2990F-25E1-48DF-8CC4-8A6CD2780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171" y="3057671"/>
            <a:ext cx="6067658" cy="742658"/>
          </a:xfrm>
        </p:spPr>
        <p:txBody>
          <a:bodyPr>
            <a:no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0FF8D-6529-45E5-96C1-AC96939828DC}"/>
              </a:ext>
            </a:extLst>
          </p:cNvPr>
          <p:cNvSpPr txBox="1"/>
          <p:nvPr/>
        </p:nvSpPr>
        <p:spPr>
          <a:xfrm>
            <a:off x="165845" y="4900590"/>
            <a:ext cx="114613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Git</a:t>
            </a: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800" b="0" i="0" u="none" strike="noStrike" dirty="0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Hub</a:t>
            </a: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https://github.com/taysumova/urfu_ml/tree/main</a:t>
            </a:r>
            <a:endParaRPr lang="ru-RU" sz="1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sz="1800" b="0" dirty="0">
                <a:effectLst/>
              </a:rPr>
            </a:br>
            <a:r>
              <a:rPr lang="ru-RU" sz="1800" b="0" i="0" u="none" strike="noStrike" dirty="0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Google</a:t>
            </a: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800" b="0" i="0" u="none" strike="noStrike" dirty="0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 https://colab.research.google.com/github/taysumova/urfu_ml/blob/main/Кейс_10_Бинарная_классификация_перекрёстных_продаж_страхования.ipynb</a:t>
            </a:r>
            <a:endParaRPr lang="ru-RU" sz="18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9057127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</TotalTime>
  <Words>1103</Words>
  <Application>Microsoft Office PowerPoint</Application>
  <PresentationFormat>Широкоэкранный</PresentationFormat>
  <Paragraphs>111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Сектор</vt:lpstr>
      <vt:lpstr>Кейс 10: Бинарная классификация перекрёстных продаж страхования</vt:lpstr>
      <vt:lpstr>Цели и задачи</vt:lpstr>
      <vt:lpstr>Датасет</vt:lpstr>
      <vt:lpstr>таргет</vt:lpstr>
      <vt:lpstr>Распределения</vt:lpstr>
      <vt:lpstr>Распределения</vt:lpstr>
      <vt:lpstr>Корреляция с таргетом по пирсону</vt:lpstr>
      <vt:lpstr>Итоги eda</vt:lpstr>
      <vt:lpstr>Метрика качества – f1</vt:lpstr>
      <vt:lpstr>Baseline – Logistic Regression</vt:lpstr>
      <vt:lpstr>Сравнение результатов моделей</vt:lpstr>
      <vt:lpstr>Сравнение результатов моделей</vt:lpstr>
      <vt:lpstr>Подбор порогов для топ 3 моделей</vt:lpstr>
      <vt:lpstr>Результаты лучшей модели </vt:lpstr>
      <vt:lpstr>Feature Engineering</vt:lpstr>
      <vt:lpstr>Что можно попробовать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Кейс 10: Бинарная классификация перекрёстных продаж страхования</dc:title>
  <dc:creator>Пользователь</dc:creator>
  <cp:lastModifiedBy>Пользователь</cp:lastModifiedBy>
  <cp:revision>2</cp:revision>
  <dcterms:created xsi:type="dcterms:W3CDTF">2025-12-25T15:42:04Z</dcterms:created>
  <dcterms:modified xsi:type="dcterms:W3CDTF">2025-12-25T19:52:03Z</dcterms:modified>
</cp:coreProperties>
</file>